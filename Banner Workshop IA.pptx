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2397700" cy="43192700"/>
  <p:notesSz cx="6858000" cy="9144000"/>
  <p:embeddedFontLst>
    <p:embeddedFont>
      <p:font typeface="Montserrat Bold" charset="1" panose="00000800000000000000"/>
      <p:regular r:id="rId7"/>
    </p:embeddedFont>
    <p:embeddedFont>
      <p:font typeface="Open Sans Bold" charset="1" panose="020B0806030504020204"/>
      <p:regular r:id="rId8"/>
    </p:embeddedFont>
    <p:embeddedFont>
      <p:font typeface="Open Sans Bold Italics" charset="1" panose="020B0806030504020204"/>
      <p:regular r:id="rId9"/>
    </p:embeddedFont>
    <p:embeddedFont>
      <p:font typeface="Open Sans" charset="1" panose="020B0606030504020204"/>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70032" y="5104391"/>
            <a:ext cx="226951" cy="22695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76532" lIns="76532" bIns="76532" rIns="76532"/>
            <a:lstStyle/>
            <a:p>
              <a:pPr algn="ctr">
                <a:lnSpc>
                  <a:spcPts val="2659"/>
                </a:lnSpc>
                <a:spcBef>
                  <a:spcPct val="0"/>
                </a:spcBef>
              </a:pPr>
            </a:p>
          </p:txBody>
        </p:sp>
      </p:grpSp>
      <p:grpSp>
        <p:nvGrpSpPr>
          <p:cNvPr name="Group 5" id="5"/>
          <p:cNvGrpSpPr/>
          <p:nvPr/>
        </p:nvGrpSpPr>
        <p:grpSpPr>
          <a:xfrm rot="0">
            <a:off x="1477262" y="1160079"/>
            <a:ext cx="12398191" cy="3563742"/>
            <a:chOff x="0" y="0"/>
            <a:chExt cx="16530921" cy="4751656"/>
          </a:xfrm>
        </p:grpSpPr>
        <p:grpSp>
          <p:nvGrpSpPr>
            <p:cNvPr name="Group 6" id="6"/>
            <p:cNvGrpSpPr/>
            <p:nvPr/>
          </p:nvGrpSpPr>
          <p:grpSpPr>
            <a:xfrm rot="0">
              <a:off x="2280490" y="1599580"/>
              <a:ext cx="302601" cy="30260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76532" lIns="76532" bIns="76532" rIns="76532"/>
              <a:lstStyle/>
              <a:p>
                <a:pPr algn="ctr">
                  <a:lnSpc>
                    <a:spcPts val="2659"/>
                  </a:lnSpc>
                  <a:spcBef>
                    <a:spcPct val="0"/>
                  </a:spcBef>
                </a:pPr>
              </a:p>
            </p:txBody>
          </p:sp>
        </p:grpSp>
        <p:grpSp>
          <p:nvGrpSpPr>
            <p:cNvPr name="Group 9" id="9"/>
            <p:cNvGrpSpPr/>
            <p:nvPr/>
          </p:nvGrpSpPr>
          <p:grpSpPr>
            <a:xfrm rot="0">
              <a:off x="13947830" y="1448280"/>
              <a:ext cx="302601" cy="30260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76532" lIns="76532" bIns="76532" rIns="76532"/>
              <a:lstStyle/>
              <a:p>
                <a:pPr algn="ctr">
                  <a:lnSpc>
                    <a:spcPts val="2659"/>
                  </a:lnSpc>
                  <a:spcBef>
                    <a:spcPct val="0"/>
                  </a:spcBef>
                </a:pPr>
              </a:p>
            </p:txBody>
          </p:sp>
        </p:grpSp>
        <p:sp>
          <p:nvSpPr>
            <p:cNvPr name="Freeform 12" id="12"/>
            <p:cNvSpPr/>
            <p:nvPr/>
          </p:nvSpPr>
          <p:spPr>
            <a:xfrm>
              <a:off x="7465219" y="1627880"/>
              <a:ext cx="7725832" cy="3092026"/>
            </a:xfrm>
            <a:custGeom>
              <a:avLst/>
              <a:gdLst/>
              <a:ahLst/>
              <a:cxnLst/>
              <a:rect r="r" b="b" t="t" l="l"/>
              <a:pathLst>
                <a:path h="3092026" w="7725832">
                  <a:moveTo>
                    <a:pt x="0" y="3092026"/>
                  </a:moveTo>
                  <a:lnTo>
                    <a:pt x="7255932" y="3092026"/>
                  </a:lnTo>
                  <a:cubicBezTo>
                    <a:pt x="7515451" y="3092026"/>
                    <a:pt x="7725832" y="2881645"/>
                    <a:pt x="7725832" y="2622126"/>
                  </a:cubicBezTo>
                  <a:lnTo>
                    <a:pt x="7725832" y="469900"/>
                  </a:lnTo>
                  <a:cubicBezTo>
                    <a:pt x="7725832" y="345275"/>
                    <a:pt x="7676325" y="225754"/>
                    <a:pt x="7588202" y="137631"/>
                  </a:cubicBezTo>
                  <a:cubicBezTo>
                    <a:pt x="7500078" y="49507"/>
                    <a:pt x="7380557" y="0"/>
                    <a:pt x="7255932" y="0"/>
                  </a:cubicBezTo>
                  <a:lnTo>
                    <a:pt x="6785212" y="0"/>
                  </a:lnTo>
                </a:path>
              </a:pathLst>
            </a:custGeom>
            <a:ln cap="flat" w="63500">
              <a:solidFill>
                <a:srgbClr val="004AAD"/>
              </a:solidFill>
              <a:prstDash val="solid"/>
              <a:headEnd type="none" len="sm" w="sm"/>
              <a:tailEnd type="none" len="sm" w="sm"/>
            </a:ln>
          </p:spPr>
        </p:sp>
        <p:sp>
          <p:nvSpPr>
            <p:cNvPr name="TextBox 13" id="13"/>
            <p:cNvSpPr txBox="true"/>
            <p:nvPr/>
          </p:nvSpPr>
          <p:spPr>
            <a:xfrm rot="0">
              <a:off x="2526372" y="689523"/>
              <a:ext cx="11667340" cy="1998569"/>
            </a:xfrm>
            <a:prstGeom prst="rect">
              <a:avLst/>
            </a:prstGeom>
          </p:spPr>
          <p:txBody>
            <a:bodyPr anchor="t" rtlCol="false" tIns="0" lIns="0" bIns="0" rIns="0">
              <a:spAutoFit/>
            </a:bodyPr>
            <a:lstStyle/>
            <a:p>
              <a:pPr algn="ctr">
                <a:lnSpc>
                  <a:spcPts val="12669"/>
                </a:lnSpc>
              </a:pPr>
              <a:r>
                <a:rPr lang="en-US" b="true" sz="9049">
                  <a:solidFill>
                    <a:srgbClr val="004AAD"/>
                  </a:solidFill>
                  <a:latin typeface="Montserrat Bold"/>
                  <a:ea typeface="Montserrat Bold"/>
                  <a:cs typeface="Montserrat Bold"/>
                  <a:sym typeface="Montserrat Bold"/>
                </a:rPr>
                <a:t>INTELIGÊNCIA</a:t>
              </a:r>
            </a:p>
          </p:txBody>
        </p:sp>
        <p:sp>
          <p:nvSpPr>
            <p:cNvPr name="TextBox 14" id="14"/>
            <p:cNvSpPr txBox="true"/>
            <p:nvPr/>
          </p:nvSpPr>
          <p:spPr>
            <a:xfrm rot="0">
              <a:off x="0" y="2394869"/>
              <a:ext cx="16530921" cy="1998569"/>
            </a:xfrm>
            <a:prstGeom prst="rect">
              <a:avLst/>
            </a:prstGeom>
          </p:spPr>
          <p:txBody>
            <a:bodyPr anchor="t" rtlCol="false" tIns="0" lIns="0" bIns="0" rIns="0">
              <a:spAutoFit/>
            </a:bodyPr>
            <a:lstStyle/>
            <a:p>
              <a:pPr algn="ctr">
                <a:lnSpc>
                  <a:spcPts val="12669"/>
                </a:lnSpc>
              </a:pPr>
              <a:r>
                <a:rPr lang="en-US" b="true" sz="9049">
                  <a:solidFill>
                    <a:srgbClr val="004AAD"/>
                  </a:solidFill>
                  <a:latin typeface="Montserrat Bold"/>
                  <a:ea typeface="Montserrat Bold"/>
                  <a:cs typeface="Montserrat Bold"/>
                  <a:sym typeface="Montserrat Bold"/>
                </a:rPr>
                <a:t>ARTIFICIAL</a:t>
              </a:r>
            </a:p>
          </p:txBody>
        </p:sp>
        <p:sp>
          <p:nvSpPr>
            <p:cNvPr name="Freeform 15" id="15"/>
            <p:cNvSpPr/>
            <p:nvPr/>
          </p:nvSpPr>
          <p:spPr>
            <a:xfrm>
              <a:off x="1339871" y="1779181"/>
              <a:ext cx="6312072" cy="2940726"/>
            </a:xfrm>
            <a:custGeom>
              <a:avLst/>
              <a:gdLst/>
              <a:ahLst/>
              <a:cxnLst/>
              <a:rect r="r" b="b" t="t" l="l"/>
              <a:pathLst>
                <a:path h="2940726" w="6312072">
                  <a:moveTo>
                    <a:pt x="6312071" y="2938045"/>
                  </a:moveTo>
                  <a:lnTo>
                    <a:pt x="6312071" y="2939386"/>
                  </a:lnTo>
                  <a:cubicBezTo>
                    <a:pt x="6312071" y="2940126"/>
                    <a:pt x="6311471" y="2940725"/>
                    <a:pt x="6310731" y="2940725"/>
                  </a:cubicBezTo>
                  <a:lnTo>
                    <a:pt x="469900" y="2940725"/>
                  </a:lnTo>
                  <a:cubicBezTo>
                    <a:pt x="210381" y="2940725"/>
                    <a:pt x="0" y="2730344"/>
                    <a:pt x="0" y="2470825"/>
                  </a:cubicBezTo>
                  <a:lnTo>
                    <a:pt x="0" y="469900"/>
                  </a:lnTo>
                  <a:cubicBezTo>
                    <a:pt x="0" y="345275"/>
                    <a:pt x="49507" y="225754"/>
                    <a:pt x="137630" y="137630"/>
                  </a:cubicBezTo>
                  <a:cubicBezTo>
                    <a:pt x="225754" y="49507"/>
                    <a:pt x="345275" y="0"/>
                    <a:pt x="469900" y="0"/>
                  </a:cubicBezTo>
                  <a:lnTo>
                    <a:pt x="940619" y="0"/>
                  </a:lnTo>
                </a:path>
              </a:pathLst>
            </a:custGeom>
            <a:ln cap="flat" w="63500">
              <a:solidFill>
                <a:srgbClr val="004AAD"/>
              </a:solidFill>
              <a:prstDash val="solid"/>
              <a:headEnd type="none" len="sm" w="sm"/>
              <a:tailEnd type="none" len="sm" w="sm"/>
            </a:ln>
          </p:spPr>
        </p:sp>
        <p:grpSp>
          <p:nvGrpSpPr>
            <p:cNvPr name="Group 16" id="16"/>
            <p:cNvGrpSpPr/>
            <p:nvPr/>
          </p:nvGrpSpPr>
          <p:grpSpPr>
            <a:xfrm rot="0">
              <a:off x="4073717" y="0"/>
              <a:ext cx="8126282" cy="765725"/>
              <a:chOff x="0" y="0"/>
              <a:chExt cx="1065485" cy="100399"/>
            </a:xfrm>
          </p:grpSpPr>
          <p:sp>
            <p:nvSpPr>
              <p:cNvPr name="Freeform 17" id="17"/>
              <p:cNvSpPr/>
              <p:nvPr/>
            </p:nvSpPr>
            <p:spPr>
              <a:xfrm flipH="false" flipV="false" rot="0">
                <a:off x="0" y="0"/>
                <a:ext cx="1065485" cy="100399"/>
              </a:xfrm>
              <a:custGeom>
                <a:avLst/>
                <a:gdLst/>
                <a:ahLst/>
                <a:cxnLst/>
                <a:rect r="r" b="b" t="t" l="l"/>
                <a:pathLst>
                  <a:path h="100399" w="1065485">
                    <a:moveTo>
                      <a:pt x="0" y="0"/>
                    </a:moveTo>
                    <a:lnTo>
                      <a:pt x="1065485" y="0"/>
                    </a:lnTo>
                    <a:lnTo>
                      <a:pt x="1065485" y="100399"/>
                    </a:lnTo>
                    <a:lnTo>
                      <a:pt x="0" y="100399"/>
                    </a:lnTo>
                    <a:close/>
                  </a:path>
                </a:pathLst>
              </a:custGeom>
              <a:solidFill>
                <a:srgbClr val="004AAD"/>
              </a:solidFill>
            </p:spPr>
          </p:sp>
          <p:sp>
            <p:nvSpPr>
              <p:cNvPr name="TextBox 18" id="18"/>
              <p:cNvSpPr txBox="true"/>
              <p:nvPr/>
            </p:nvSpPr>
            <p:spPr>
              <a:xfrm>
                <a:off x="0" y="-38100"/>
                <a:ext cx="1065485" cy="138499"/>
              </a:xfrm>
              <a:prstGeom prst="rect">
                <a:avLst/>
              </a:prstGeom>
            </p:spPr>
            <p:txBody>
              <a:bodyPr anchor="ctr" rtlCol="false" tIns="76532" lIns="76532" bIns="76532" rIns="76532"/>
              <a:lstStyle/>
              <a:p>
                <a:pPr algn="ctr">
                  <a:lnSpc>
                    <a:spcPts val="2659"/>
                  </a:lnSpc>
                </a:pPr>
                <a:r>
                  <a:rPr lang="en-US" b="true" sz="1899" spc="281">
                    <a:solidFill>
                      <a:srgbClr val="FFFFFF"/>
                    </a:solidFill>
                    <a:latin typeface="Montserrat Bold"/>
                    <a:ea typeface="Montserrat Bold"/>
                    <a:cs typeface="Montserrat Bold"/>
                    <a:sym typeface="Montserrat Bold"/>
                  </a:rPr>
                  <a:t>WORKSHOP DE TRABALHOS DE</a:t>
                </a:r>
              </a:p>
            </p:txBody>
          </p:sp>
        </p:grpSp>
        <p:grpSp>
          <p:nvGrpSpPr>
            <p:cNvPr name="Group 19" id="19"/>
            <p:cNvGrpSpPr/>
            <p:nvPr/>
          </p:nvGrpSpPr>
          <p:grpSpPr>
            <a:xfrm rot="0">
              <a:off x="3588748" y="0"/>
              <a:ext cx="969937" cy="765725"/>
              <a:chOff x="0" y="0"/>
              <a:chExt cx="700351" cy="552897"/>
            </a:xfrm>
          </p:grpSpPr>
          <p:sp>
            <p:nvSpPr>
              <p:cNvPr name="Freeform 20" id="20"/>
              <p:cNvSpPr/>
              <p:nvPr/>
            </p:nvSpPr>
            <p:spPr>
              <a:xfrm flipH="false" flipV="false" rot="0">
                <a:off x="0" y="0"/>
                <a:ext cx="700351" cy="552897"/>
              </a:xfrm>
              <a:custGeom>
                <a:avLst/>
                <a:gdLst/>
                <a:ahLst/>
                <a:cxnLst/>
                <a:rect r="r" b="b" t="t" l="l"/>
                <a:pathLst>
                  <a:path h="552897" w="700351">
                    <a:moveTo>
                      <a:pt x="350175" y="0"/>
                    </a:moveTo>
                    <a:lnTo>
                      <a:pt x="700351" y="552897"/>
                    </a:lnTo>
                    <a:lnTo>
                      <a:pt x="0" y="552897"/>
                    </a:lnTo>
                    <a:lnTo>
                      <a:pt x="350175" y="0"/>
                    </a:lnTo>
                    <a:close/>
                  </a:path>
                </a:pathLst>
              </a:custGeom>
              <a:solidFill>
                <a:srgbClr val="004AAD"/>
              </a:solidFill>
            </p:spPr>
          </p:sp>
          <p:sp>
            <p:nvSpPr>
              <p:cNvPr name="TextBox 21" id="21"/>
              <p:cNvSpPr txBox="true"/>
              <p:nvPr/>
            </p:nvSpPr>
            <p:spPr>
              <a:xfrm>
                <a:off x="109430" y="218602"/>
                <a:ext cx="481491" cy="294802"/>
              </a:xfrm>
              <a:prstGeom prst="rect">
                <a:avLst/>
              </a:prstGeom>
            </p:spPr>
            <p:txBody>
              <a:bodyPr anchor="ctr" rtlCol="false" tIns="76532" lIns="76532" bIns="76532" rIns="76532"/>
              <a:lstStyle/>
              <a:p>
                <a:pPr algn="ctr">
                  <a:lnSpc>
                    <a:spcPts val="2659"/>
                  </a:lnSpc>
                </a:pPr>
              </a:p>
            </p:txBody>
          </p:sp>
        </p:grpSp>
        <p:grpSp>
          <p:nvGrpSpPr>
            <p:cNvPr name="Group 22" id="22"/>
            <p:cNvGrpSpPr/>
            <p:nvPr/>
          </p:nvGrpSpPr>
          <p:grpSpPr>
            <a:xfrm rot="0">
              <a:off x="11767444" y="0"/>
              <a:ext cx="969937" cy="765725"/>
              <a:chOff x="0" y="0"/>
              <a:chExt cx="700351" cy="552897"/>
            </a:xfrm>
          </p:grpSpPr>
          <p:sp>
            <p:nvSpPr>
              <p:cNvPr name="Freeform 23" id="23"/>
              <p:cNvSpPr/>
              <p:nvPr/>
            </p:nvSpPr>
            <p:spPr>
              <a:xfrm flipH="false" flipV="false" rot="0">
                <a:off x="0" y="0"/>
                <a:ext cx="700351" cy="552897"/>
              </a:xfrm>
              <a:custGeom>
                <a:avLst/>
                <a:gdLst/>
                <a:ahLst/>
                <a:cxnLst/>
                <a:rect r="r" b="b" t="t" l="l"/>
                <a:pathLst>
                  <a:path h="552897" w="700351">
                    <a:moveTo>
                      <a:pt x="350175" y="0"/>
                    </a:moveTo>
                    <a:lnTo>
                      <a:pt x="700351" y="552897"/>
                    </a:lnTo>
                    <a:lnTo>
                      <a:pt x="0" y="552897"/>
                    </a:lnTo>
                    <a:lnTo>
                      <a:pt x="350175" y="0"/>
                    </a:lnTo>
                    <a:close/>
                  </a:path>
                </a:pathLst>
              </a:custGeom>
              <a:solidFill>
                <a:srgbClr val="004AAD"/>
              </a:solidFill>
            </p:spPr>
          </p:sp>
          <p:sp>
            <p:nvSpPr>
              <p:cNvPr name="TextBox 24" id="24"/>
              <p:cNvSpPr txBox="true"/>
              <p:nvPr/>
            </p:nvSpPr>
            <p:spPr>
              <a:xfrm>
                <a:off x="109430" y="218602"/>
                <a:ext cx="481491" cy="294802"/>
              </a:xfrm>
              <a:prstGeom prst="rect">
                <a:avLst/>
              </a:prstGeom>
            </p:spPr>
            <p:txBody>
              <a:bodyPr anchor="ctr" rtlCol="false" tIns="76532" lIns="76532" bIns="76532" rIns="76532"/>
              <a:lstStyle/>
              <a:p>
                <a:pPr algn="ctr">
                  <a:lnSpc>
                    <a:spcPts val="2659"/>
                  </a:lnSpc>
                </a:pPr>
              </a:p>
            </p:txBody>
          </p:sp>
        </p:grpSp>
        <p:sp>
          <p:nvSpPr>
            <p:cNvPr name="TextBox 25" id="25"/>
            <p:cNvSpPr txBox="true"/>
            <p:nvPr/>
          </p:nvSpPr>
          <p:spPr>
            <a:xfrm rot="0">
              <a:off x="3851265" y="-66675"/>
              <a:ext cx="857264" cy="871334"/>
            </a:xfrm>
            <a:prstGeom prst="rect">
              <a:avLst/>
            </a:prstGeom>
          </p:spPr>
          <p:txBody>
            <a:bodyPr anchor="t" rtlCol="false" tIns="0" lIns="0" bIns="0" rIns="0">
              <a:spAutoFit/>
            </a:bodyPr>
            <a:lstStyle/>
            <a:p>
              <a:pPr algn="ctr">
                <a:lnSpc>
                  <a:spcPts val="5586"/>
                </a:lnSpc>
              </a:pPr>
              <a:r>
                <a:rPr lang="en-US" sz="3990" b="true">
                  <a:solidFill>
                    <a:srgbClr val="FFFFFF"/>
                  </a:solidFill>
                  <a:latin typeface="Montserrat Bold"/>
                  <a:ea typeface="Montserrat Bold"/>
                  <a:cs typeface="Montserrat Bold"/>
                  <a:sym typeface="Montserrat Bold"/>
                </a:rPr>
                <a:t>4º</a:t>
              </a:r>
            </a:p>
          </p:txBody>
        </p:sp>
      </p:grpSp>
      <p:grpSp>
        <p:nvGrpSpPr>
          <p:cNvPr name="Group 26" id="26"/>
          <p:cNvGrpSpPr/>
          <p:nvPr/>
        </p:nvGrpSpPr>
        <p:grpSpPr>
          <a:xfrm rot="0">
            <a:off x="1107510" y="10245533"/>
            <a:ext cx="14860201" cy="1092453"/>
            <a:chOff x="0" y="0"/>
            <a:chExt cx="1242631" cy="91352"/>
          </a:xfrm>
        </p:grpSpPr>
        <p:sp>
          <p:nvSpPr>
            <p:cNvPr name="Freeform 27" id="27"/>
            <p:cNvSpPr/>
            <p:nvPr/>
          </p:nvSpPr>
          <p:spPr>
            <a:xfrm flipH="false" flipV="false" rot="0">
              <a:off x="0" y="0"/>
              <a:ext cx="1242631" cy="91352"/>
            </a:xfrm>
            <a:custGeom>
              <a:avLst/>
              <a:gdLst/>
              <a:ahLst/>
              <a:cxnLst/>
              <a:rect r="r" b="b" t="t" l="l"/>
              <a:pathLst>
                <a:path h="91352" w="1242631">
                  <a:moveTo>
                    <a:pt x="0" y="0"/>
                  </a:moveTo>
                  <a:lnTo>
                    <a:pt x="1242631" y="0"/>
                  </a:lnTo>
                  <a:lnTo>
                    <a:pt x="1242631" y="91352"/>
                  </a:lnTo>
                  <a:lnTo>
                    <a:pt x="0" y="91352"/>
                  </a:lnTo>
                  <a:close/>
                </a:path>
              </a:pathLst>
            </a:custGeom>
            <a:solidFill>
              <a:srgbClr val="D9D9D9"/>
            </a:solidFill>
          </p:spPr>
        </p:sp>
        <p:sp>
          <p:nvSpPr>
            <p:cNvPr name="TextBox 28" id="28"/>
            <p:cNvSpPr txBox="true"/>
            <p:nvPr/>
          </p:nvSpPr>
          <p:spPr>
            <a:xfrm>
              <a:off x="0" y="-85725"/>
              <a:ext cx="1242631" cy="177077"/>
            </a:xfrm>
            <a:prstGeom prst="rect">
              <a:avLst/>
            </a:prstGeom>
          </p:spPr>
          <p:txBody>
            <a:bodyPr anchor="ctr" rtlCol="false" tIns="50800" lIns="50800" bIns="50800" rIns="50800"/>
            <a:lstStyle/>
            <a:p>
              <a:pPr algn="ctr">
                <a:lnSpc>
                  <a:spcPts val="6737"/>
                </a:lnSpc>
              </a:pPr>
            </a:p>
          </p:txBody>
        </p:sp>
      </p:grpSp>
      <p:grpSp>
        <p:nvGrpSpPr>
          <p:cNvPr name="Group 29" id="29"/>
          <p:cNvGrpSpPr/>
          <p:nvPr/>
        </p:nvGrpSpPr>
        <p:grpSpPr>
          <a:xfrm rot="0">
            <a:off x="1107510" y="24323736"/>
            <a:ext cx="14860201" cy="1092453"/>
            <a:chOff x="0" y="0"/>
            <a:chExt cx="1242631" cy="91352"/>
          </a:xfrm>
        </p:grpSpPr>
        <p:sp>
          <p:nvSpPr>
            <p:cNvPr name="Freeform 30" id="30"/>
            <p:cNvSpPr/>
            <p:nvPr/>
          </p:nvSpPr>
          <p:spPr>
            <a:xfrm flipH="false" flipV="false" rot="0">
              <a:off x="0" y="0"/>
              <a:ext cx="1242631" cy="91352"/>
            </a:xfrm>
            <a:custGeom>
              <a:avLst/>
              <a:gdLst/>
              <a:ahLst/>
              <a:cxnLst/>
              <a:rect r="r" b="b" t="t" l="l"/>
              <a:pathLst>
                <a:path h="91352" w="1242631">
                  <a:moveTo>
                    <a:pt x="0" y="0"/>
                  </a:moveTo>
                  <a:lnTo>
                    <a:pt x="1242631" y="0"/>
                  </a:lnTo>
                  <a:lnTo>
                    <a:pt x="1242631" y="91352"/>
                  </a:lnTo>
                  <a:lnTo>
                    <a:pt x="0" y="91352"/>
                  </a:lnTo>
                  <a:close/>
                </a:path>
              </a:pathLst>
            </a:custGeom>
            <a:solidFill>
              <a:srgbClr val="D9D9D9"/>
            </a:solidFill>
          </p:spPr>
        </p:sp>
        <p:sp>
          <p:nvSpPr>
            <p:cNvPr name="TextBox 31" id="31"/>
            <p:cNvSpPr txBox="true"/>
            <p:nvPr/>
          </p:nvSpPr>
          <p:spPr>
            <a:xfrm>
              <a:off x="0" y="-85725"/>
              <a:ext cx="1242631" cy="177077"/>
            </a:xfrm>
            <a:prstGeom prst="rect">
              <a:avLst/>
            </a:prstGeom>
          </p:spPr>
          <p:txBody>
            <a:bodyPr anchor="ctr" rtlCol="false" tIns="50800" lIns="50800" bIns="50800" rIns="50800"/>
            <a:lstStyle/>
            <a:p>
              <a:pPr algn="ctr">
                <a:lnSpc>
                  <a:spcPts val="6737"/>
                </a:lnSpc>
              </a:pPr>
            </a:p>
          </p:txBody>
        </p:sp>
      </p:grpSp>
      <p:grpSp>
        <p:nvGrpSpPr>
          <p:cNvPr name="Group 32" id="32"/>
          <p:cNvGrpSpPr/>
          <p:nvPr/>
        </p:nvGrpSpPr>
        <p:grpSpPr>
          <a:xfrm rot="0">
            <a:off x="16432289" y="10245533"/>
            <a:ext cx="14860201" cy="1092453"/>
            <a:chOff x="0" y="0"/>
            <a:chExt cx="1242631" cy="91352"/>
          </a:xfrm>
        </p:grpSpPr>
        <p:sp>
          <p:nvSpPr>
            <p:cNvPr name="Freeform 33" id="33"/>
            <p:cNvSpPr/>
            <p:nvPr/>
          </p:nvSpPr>
          <p:spPr>
            <a:xfrm flipH="false" flipV="false" rot="0">
              <a:off x="0" y="0"/>
              <a:ext cx="1242631" cy="91352"/>
            </a:xfrm>
            <a:custGeom>
              <a:avLst/>
              <a:gdLst/>
              <a:ahLst/>
              <a:cxnLst/>
              <a:rect r="r" b="b" t="t" l="l"/>
              <a:pathLst>
                <a:path h="91352" w="1242631">
                  <a:moveTo>
                    <a:pt x="0" y="0"/>
                  </a:moveTo>
                  <a:lnTo>
                    <a:pt x="1242631" y="0"/>
                  </a:lnTo>
                  <a:lnTo>
                    <a:pt x="1242631" y="91352"/>
                  </a:lnTo>
                  <a:lnTo>
                    <a:pt x="0" y="91352"/>
                  </a:lnTo>
                  <a:close/>
                </a:path>
              </a:pathLst>
            </a:custGeom>
            <a:solidFill>
              <a:srgbClr val="D9D9D9"/>
            </a:solidFill>
          </p:spPr>
        </p:sp>
        <p:sp>
          <p:nvSpPr>
            <p:cNvPr name="TextBox 34" id="34"/>
            <p:cNvSpPr txBox="true"/>
            <p:nvPr/>
          </p:nvSpPr>
          <p:spPr>
            <a:xfrm>
              <a:off x="0" y="-85725"/>
              <a:ext cx="1242631" cy="177077"/>
            </a:xfrm>
            <a:prstGeom prst="rect">
              <a:avLst/>
            </a:prstGeom>
          </p:spPr>
          <p:txBody>
            <a:bodyPr anchor="ctr" rtlCol="false" tIns="50800" lIns="50800" bIns="50800" rIns="50800"/>
            <a:lstStyle/>
            <a:p>
              <a:pPr algn="ctr">
                <a:lnSpc>
                  <a:spcPts val="6737"/>
                </a:lnSpc>
              </a:pPr>
            </a:p>
          </p:txBody>
        </p:sp>
      </p:grpSp>
      <p:grpSp>
        <p:nvGrpSpPr>
          <p:cNvPr name="Group 35" id="35"/>
          <p:cNvGrpSpPr/>
          <p:nvPr/>
        </p:nvGrpSpPr>
        <p:grpSpPr>
          <a:xfrm rot="0">
            <a:off x="16432289" y="32153636"/>
            <a:ext cx="14860201" cy="1092453"/>
            <a:chOff x="0" y="0"/>
            <a:chExt cx="1242631" cy="91352"/>
          </a:xfrm>
        </p:grpSpPr>
        <p:sp>
          <p:nvSpPr>
            <p:cNvPr name="Freeform 36" id="36"/>
            <p:cNvSpPr/>
            <p:nvPr/>
          </p:nvSpPr>
          <p:spPr>
            <a:xfrm flipH="false" flipV="false" rot="0">
              <a:off x="0" y="0"/>
              <a:ext cx="1242631" cy="91352"/>
            </a:xfrm>
            <a:custGeom>
              <a:avLst/>
              <a:gdLst/>
              <a:ahLst/>
              <a:cxnLst/>
              <a:rect r="r" b="b" t="t" l="l"/>
              <a:pathLst>
                <a:path h="91352" w="1242631">
                  <a:moveTo>
                    <a:pt x="0" y="0"/>
                  </a:moveTo>
                  <a:lnTo>
                    <a:pt x="1242631" y="0"/>
                  </a:lnTo>
                  <a:lnTo>
                    <a:pt x="1242631" y="91352"/>
                  </a:lnTo>
                  <a:lnTo>
                    <a:pt x="0" y="91352"/>
                  </a:lnTo>
                  <a:close/>
                </a:path>
              </a:pathLst>
            </a:custGeom>
            <a:solidFill>
              <a:srgbClr val="D9D9D9"/>
            </a:solidFill>
          </p:spPr>
        </p:sp>
        <p:sp>
          <p:nvSpPr>
            <p:cNvPr name="TextBox 37" id="37"/>
            <p:cNvSpPr txBox="true"/>
            <p:nvPr/>
          </p:nvSpPr>
          <p:spPr>
            <a:xfrm>
              <a:off x="0" y="-85725"/>
              <a:ext cx="1242631" cy="177077"/>
            </a:xfrm>
            <a:prstGeom prst="rect">
              <a:avLst/>
            </a:prstGeom>
          </p:spPr>
          <p:txBody>
            <a:bodyPr anchor="ctr" rtlCol="false" tIns="50800" lIns="50800" bIns="50800" rIns="50800"/>
            <a:lstStyle/>
            <a:p>
              <a:pPr algn="ctr">
                <a:lnSpc>
                  <a:spcPts val="6737"/>
                </a:lnSpc>
              </a:pPr>
            </a:p>
          </p:txBody>
        </p:sp>
      </p:grpSp>
      <p:sp>
        <p:nvSpPr>
          <p:cNvPr name="Freeform 38" id="38"/>
          <p:cNvSpPr/>
          <p:nvPr/>
        </p:nvSpPr>
        <p:spPr>
          <a:xfrm flipH="false" flipV="false" rot="0">
            <a:off x="987838" y="36382640"/>
            <a:ext cx="14979873" cy="4354863"/>
          </a:xfrm>
          <a:custGeom>
            <a:avLst/>
            <a:gdLst/>
            <a:ahLst/>
            <a:cxnLst/>
            <a:rect r="r" b="b" t="t" l="l"/>
            <a:pathLst>
              <a:path h="4354863" w="14979873">
                <a:moveTo>
                  <a:pt x="0" y="0"/>
                </a:moveTo>
                <a:lnTo>
                  <a:pt x="14979873" y="0"/>
                </a:lnTo>
                <a:lnTo>
                  <a:pt x="14979873" y="4354863"/>
                </a:lnTo>
                <a:lnTo>
                  <a:pt x="0" y="4354863"/>
                </a:lnTo>
                <a:lnTo>
                  <a:pt x="0" y="0"/>
                </a:lnTo>
                <a:close/>
              </a:path>
            </a:pathLst>
          </a:custGeom>
          <a:blipFill>
            <a:blip r:embed="rId2"/>
            <a:stretch>
              <a:fillRect l="0" t="0" r="0" b="0"/>
            </a:stretch>
          </a:blipFill>
        </p:spPr>
      </p:sp>
      <p:sp>
        <p:nvSpPr>
          <p:cNvPr name="Freeform 39" id="39"/>
          <p:cNvSpPr/>
          <p:nvPr/>
        </p:nvSpPr>
        <p:spPr>
          <a:xfrm flipH="false" flipV="false" rot="0">
            <a:off x="16655639" y="20448743"/>
            <a:ext cx="14636851" cy="10816676"/>
          </a:xfrm>
          <a:custGeom>
            <a:avLst/>
            <a:gdLst/>
            <a:ahLst/>
            <a:cxnLst/>
            <a:rect r="r" b="b" t="t" l="l"/>
            <a:pathLst>
              <a:path h="10816676" w="14636851">
                <a:moveTo>
                  <a:pt x="0" y="0"/>
                </a:moveTo>
                <a:lnTo>
                  <a:pt x="14636851" y="0"/>
                </a:lnTo>
                <a:lnTo>
                  <a:pt x="14636851" y="10816676"/>
                </a:lnTo>
                <a:lnTo>
                  <a:pt x="0" y="10816676"/>
                </a:lnTo>
                <a:lnTo>
                  <a:pt x="0" y="0"/>
                </a:lnTo>
                <a:close/>
              </a:path>
            </a:pathLst>
          </a:custGeom>
          <a:blipFill>
            <a:blip r:embed="rId3"/>
            <a:stretch>
              <a:fillRect l="0" t="0" r="0" b="0"/>
            </a:stretch>
          </a:blipFill>
        </p:spPr>
      </p:sp>
      <p:sp>
        <p:nvSpPr>
          <p:cNvPr name="Freeform 40" id="40"/>
          <p:cNvSpPr/>
          <p:nvPr/>
        </p:nvSpPr>
        <p:spPr>
          <a:xfrm flipH="false" flipV="false" rot="0">
            <a:off x="17948477" y="1306474"/>
            <a:ext cx="12051175" cy="3309052"/>
          </a:xfrm>
          <a:custGeom>
            <a:avLst/>
            <a:gdLst/>
            <a:ahLst/>
            <a:cxnLst/>
            <a:rect r="r" b="b" t="t" l="l"/>
            <a:pathLst>
              <a:path h="3309052" w="12051175">
                <a:moveTo>
                  <a:pt x="0" y="0"/>
                </a:moveTo>
                <a:lnTo>
                  <a:pt x="12051175" y="0"/>
                </a:lnTo>
                <a:lnTo>
                  <a:pt x="12051175" y="3309052"/>
                </a:lnTo>
                <a:lnTo>
                  <a:pt x="0" y="3309052"/>
                </a:lnTo>
                <a:lnTo>
                  <a:pt x="0" y="0"/>
                </a:lnTo>
                <a:close/>
              </a:path>
            </a:pathLst>
          </a:custGeom>
          <a:blipFill>
            <a:blip r:embed="rId4"/>
            <a:stretch>
              <a:fillRect l="0" t="0" r="0" b="0"/>
            </a:stretch>
          </a:blipFill>
        </p:spPr>
      </p:sp>
      <p:sp>
        <p:nvSpPr>
          <p:cNvPr name="TextBox 41" id="41"/>
          <p:cNvSpPr txBox="true"/>
          <p:nvPr/>
        </p:nvSpPr>
        <p:spPr>
          <a:xfrm rot="0">
            <a:off x="1107510" y="5072726"/>
            <a:ext cx="30184980" cy="2787649"/>
          </a:xfrm>
          <a:prstGeom prst="rect">
            <a:avLst/>
          </a:prstGeom>
        </p:spPr>
        <p:txBody>
          <a:bodyPr anchor="t" rtlCol="false" tIns="0" lIns="0" bIns="0" rIns="0">
            <a:spAutoFit/>
          </a:bodyPr>
          <a:lstStyle/>
          <a:p>
            <a:pPr algn="ctr" marL="0" indent="0" lvl="0">
              <a:lnSpc>
                <a:spcPts val="11200"/>
              </a:lnSpc>
              <a:spcBef>
                <a:spcPct val="0"/>
              </a:spcBef>
            </a:pPr>
            <a:r>
              <a:rPr lang="en-US" b="true" sz="8000">
                <a:solidFill>
                  <a:srgbClr val="000000"/>
                </a:solidFill>
                <a:latin typeface="Open Sans Bold"/>
                <a:ea typeface="Open Sans Bold"/>
                <a:cs typeface="Open Sans Bold"/>
                <a:sym typeface="Open Sans Bold"/>
              </a:rPr>
              <a:t>Título do seu trabalho: Recomendada uma abordagem simples e direta em no máximo 2 linhas</a:t>
            </a:r>
          </a:p>
        </p:txBody>
      </p:sp>
      <p:sp>
        <p:nvSpPr>
          <p:cNvPr name="TextBox 42" id="42"/>
          <p:cNvSpPr txBox="true"/>
          <p:nvPr/>
        </p:nvSpPr>
        <p:spPr>
          <a:xfrm rot="0">
            <a:off x="19341307" y="8327100"/>
            <a:ext cx="11663183" cy="811219"/>
          </a:xfrm>
          <a:prstGeom prst="rect">
            <a:avLst/>
          </a:prstGeom>
        </p:spPr>
        <p:txBody>
          <a:bodyPr anchor="t" rtlCol="false" tIns="0" lIns="0" bIns="0" rIns="0">
            <a:spAutoFit/>
          </a:bodyPr>
          <a:lstStyle/>
          <a:p>
            <a:pPr algn="r" marL="0" indent="0" lvl="0">
              <a:lnSpc>
                <a:spcPts val="6737"/>
              </a:lnSpc>
              <a:spcBef>
                <a:spcPct val="0"/>
              </a:spcBef>
            </a:pPr>
            <a:r>
              <a:rPr lang="en-US" b="true" sz="4812">
                <a:solidFill>
                  <a:srgbClr val="004AAD"/>
                </a:solidFill>
                <a:latin typeface="Open Sans Bold"/>
                <a:ea typeface="Open Sans Bold"/>
                <a:cs typeface="Open Sans Bold"/>
                <a:sym typeface="Open Sans Bold"/>
              </a:rPr>
              <a:t>Nome Completo do Autor </a:t>
            </a:r>
          </a:p>
        </p:txBody>
      </p:sp>
      <p:sp>
        <p:nvSpPr>
          <p:cNvPr name="TextBox 43" id="43"/>
          <p:cNvSpPr txBox="true"/>
          <p:nvPr/>
        </p:nvSpPr>
        <p:spPr>
          <a:xfrm rot="0">
            <a:off x="17841846" y="9314101"/>
            <a:ext cx="13162644" cy="679450"/>
          </a:xfrm>
          <a:prstGeom prst="rect">
            <a:avLst/>
          </a:prstGeom>
        </p:spPr>
        <p:txBody>
          <a:bodyPr anchor="t" rtlCol="false" tIns="0" lIns="0" bIns="0" rIns="0">
            <a:spAutoFit/>
          </a:bodyPr>
          <a:lstStyle/>
          <a:p>
            <a:pPr algn="r" marL="0" indent="0" lvl="0">
              <a:lnSpc>
                <a:spcPts val="5599"/>
              </a:lnSpc>
              <a:spcBef>
                <a:spcPct val="0"/>
              </a:spcBef>
            </a:pPr>
            <a:r>
              <a:rPr lang="en-US" b="true" sz="3999" i="true">
                <a:solidFill>
                  <a:srgbClr val="000000"/>
                </a:solidFill>
                <a:latin typeface="Open Sans Bold Italics"/>
                <a:ea typeface="Open Sans Bold Italics"/>
                <a:cs typeface="Open Sans Bold Italics"/>
                <a:sym typeface="Open Sans Bold Italics"/>
              </a:rPr>
              <a:t> seuemail@academico.unirv.edu.br</a:t>
            </a:r>
          </a:p>
        </p:txBody>
      </p:sp>
      <p:sp>
        <p:nvSpPr>
          <p:cNvPr name="TextBox 44" id="44"/>
          <p:cNvSpPr txBox="true"/>
          <p:nvPr/>
        </p:nvSpPr>
        <p:spPr>
          <a:xfrm rot="0">
            <a:off x="1477262" y="10385266"/>
            <a:ext cx="5851464" cy="762000"/>
          </a:xfrm>
          <a:prstGeom prst="rect">
            <a:avLst/>
          </a:prstGeom>
        </p:spPr>
        <p:txBody>
          <a:bodyPr anchor="t" rtlCol="false" tIns="0" lIns="0" bIns="0" rIns="0">
            <a:spAutoFit/>
          </a:bodyPr>
          <a:lstStyle/>
          <a:p>
            <a:pPr algn="l" marL="0" indent="0" lvl="0">
              <a:lnSpc>
                <a:spcPts val="6299"/>
              </a:lnSpc>
              <a:spcBef>
                <a:spcPct val="0"/>
              </a:spcBef>
            </a:pPr>
            <a:r>
              <a:rPr lang="en-US" b="true" sz="4500">
                <a:solidFill>
                  <a:srgbClr val="000000"/>
                </a:solidFill>
                <a:latin typeface="Open Sans Bold"/>
                <a:ea typeface="Open Sans Bold"/>
                <a:cs typeface="Open Sans Bold"/>
                <a:sym typeface="Open Sans Bold"/>
              </a:rPr>
              <a:t>Introdução</a:t>
            </a:r>
          </a:p>
        </p:txBody>
      </p:sp>
      <p:sp>
        <p:nvSpPr>
          <p:cNvPr name="TextBox 45" id="45"/>
          <p:cNvSpPr txBox="true"/>
          <p:nvPr/>
        </p:nvSpPr>
        <p:spPr>
          <a:xfrm rot="0">
            <a:off x="1107510" y="11757086"/>
            <a:ext cx="14860201" cy="11957050"/>
          </a:xfrm>
          <a:prstGeom prst="rect">
            <a:avLst/>
          </a:prstGeom>
        </p:spPr>
        <p:txBody>
          <a:bodyPr anchor="t" rtlCol="false" tIns="0" lIns="0" bIns="0" rIns="0">
            <a:spAutoFit/>
          </a:bodyPr>
          <a:lstStyle/>
          <a:p>
            <a:pPr algn="just">
              <a:lnSpc>
                <a:spcPts val="5599"/>
              </a:lnSpc>
            </a:pPr>
            <a:r>
              <a:rPr lang="en-US" sz="3999">
                <a:solidFill>
                  <a:srgbClr val="000000"/>
                </a:solidFill>
                <a:latin typeface="Open Sans"/>
                <a:ea typeface="Open Sans"/>
                <a:cs typeface="Open Sans"/>
                <a:sym typeface="Open Sans"/>
              </a:rPr>
              <a:t> A classificação e análise do som do coração desempenha um papel importante no diagnóstico precoce e na prevenção de doenças cardiovasculares, mais especificamente as valvares. Quando uma válvula cardíaca natural se torna defeituosa pode resultar em estenose (estreitamento da válvula) ou regurgitação (vazamento da válvula). Antes de procurar o médico o paciente normalmente apresenta algum desconforto ou apresenta sinais como a angina (dor no peito), falta de ar e cansaço; quanto antes for feito diagnóstico, maiores as chances de tratamento. Para diagnóstico das doenças cardiovasculares os médicos primeiramente realizam a auscultação cardíaca; a ecocardiografia é comumente realizada posteriormente. </a:t>
            </a:r>
          </a:p>
          <a:p>
            <a:pPr algn="just">
              <a:lnSpc>
                <a:spcPts val="5599"/>
              </a:lnSpc>
            </a:pPr>
            <a:r>
              <a:rPr lang="en-US" sz="3999">
                <a:solidFill>
                  <a:srgbClr val="000000"/>
                </a:solidFill>
                <a:latin typeface="Open Sans"/>
                <a:ea typeface="Open Sans"/>
                <a:cs typeface="Open Sans"/>
                <a:sym typeface="Open Sans"/>
              </a:rPr>
              <a:t> O propósito deste estudo é apresentar um sistema de diagnóstico rápido de anomalias nas válvulas cardíacas analisando o som produzido pela abertura das válvulas utilizando deep learning. </a:t>
            </a:r>
          </a:p>
        </p:txBody>
      </p:sp>
      <p:sp>
        <p:nvSpPr>
          <p:cNvPr name="TextBox 46" id="46"/>
          <p:cNvSpPr txBox="true"/>
          <p:nvPr/>
        </p:nvSpPr>
        <p:spPr>
          <a:xfrm rot="0">
            <a:off x="1107510" y="25835290"/>
            <a:ext cx="14860201" cy="10547350"/>
          </a:xfrm>
          <a:prstGeom prst="rect">
            <a:avLst/>
          </a:prstGeom>
        </p:spPr>
        <p:txBody>
          <a:bodyPr anchor="t" rtlCol="false" tIns="0" lIns="0" bIns="0" rIns="0">
            <a:spAutoFit/>
          </a:bodyPr>
          <a:lstStyle/>
          <a:p>
            <a:pPr algn="just">
              <a:lnSpc>
                <a:spcPts val="5599"/>
              </a:lnSpc>
            </a:pPr>
            <a:r>
              <a:rPr lang="en-US" sz="3999">
                <a:solidFill>
                  <a:srgbClr val="000000"/>
                </a:solidFill>
                <a:latin typeface="Open Sans"/>
                <a:ea typeface="Open Sans"/>
                <a:cs typeface="Open Sans"/>
                <a:sym typeface="Open Sans"/>
              </a:rPr>
              <a:t> A classificação e análise do som do coração desempenha um papel importante no diagnóstico precoce e na prevenção de doenças cardiovasculares, mais especificamente as valvares. Quando uma válvula cardíaca natural se torna defeituosa pode resultar em estenose (estreitamento da válvula) ou regurgitação (vazamento da válvula). Antes de procurar o médico o paciente normalmente apresenta algum desconforto ou apresenta sinais como a angina (dor no peito), falta de ar e cansaço; quanto antes for feito diagnóstico, maiores as chances de tratamento. Para diagnóstico das doenças cardiovasculares os médicos primeiramente realizam a auscultação cardíaca; a ecocardiografia é comumente realizada posteriormente. </a:t>
            </a:r>
          </a:p>
          <a:p>
            <a:pPr algn="just">
              <a:lnSpc>
                <a:spcPts val="5599"/>
              </a:lnSpc>
            </a:pPr>
          </a:p>
          <a:p>
            <a:pPr algn="just">
              <a:lnSpc>
                <a:spcPts val="5599"/>
              </a:lnSpc>
            </a:pPr>
          </a:p>
        </p:txBody>
      </p:sp>
      <p:sp>
        <p:nvSpPr>
          <p:cNvPr name="TextBox 47" id="47"/>
          <p:cNvSpPr txBox="true"/>
          <p:nvPr/>
        </p:nvSpPr>
        <p:spPr>
          <a:xfrm rot="0">
            <a:off x="1477262" y="24523761"/>
            <a:ext cx="5851464" cy="762000"/>
          </a:xfrm>
          <a:prstGeom prst="rect">
            <a:avLst/>
          </a:prstGeom>
        </p:spPr>
        <p:txBody>
          <a:bodyPr anchor="t" rtlCol="false" tIns="0" lIns="0" bIns="0" rIns="0">
            <a:spAutoFit/>
          </a:bodyPr>
          <a:lstStyle/>
          <a:p>
            <a:pPr algn="l" marL="0" indent="0" lvl="0">
              <a:lnSpc>
                <a:spcPts val="6299"/>
              </a:lnSpc>
              <a:spcBef>
                <a:spcPct val="0"/>
              </a:spcBef>
            </a:pPr>
            <a:r>
              <a:rPr lang="en-US" b="true" sz="4500">
                <a:solidFill>
                  <a:srgbClr val="000000"/>
                </a:solidFill>
                <a:latin typeface="Open Sans Bold"/>
                <a:ea typeface="Open Sans Bold"/>
                <a:cs typeface="Open Sans Bold"/>
                <a:sym typeface="Open Sans Bold"/>
              </a:rPr>
              <a:t>Metodologia</a:t>
            </a:r>
          </a:p>
        </p:txBody>
      </p:sp>
      <p:sp>
        <p:nvSpPr>
          <p:cNvPr name="TextBox 48" id="48"/>
          <p:cNvSpPr txBox="true"/>
          <p:nvPr/>
        </p:nvSpPr>
        <p:spPr>
          <a:xfrm rot="0">
            <a:off x="16432289" y="11757086"/>
            <a:ext cx="14860201" cy="9137650"/>
          </a:xfrm>
          <a:prstGeom prst="rect">
            <a:avLst/>
          </a:prstGeom>
        </p:spPr>
        <p:txBody>
          <a:bodyPr anchor="t" rtlCol="false" tIns="0" lIns="0" bIns="0" rIns="0">
            <a:spAutoFit/>
          </a:bodyPr>
          <a:lstStyle/>
          <a:p>
            <a:pPr algn="just">
              <a:lnSpc>
                <a:spcPts val="5599"/>
              </a:lnSpc>
            </a:pPr>
            <a:r>
              <a:rPr lang="en-US" sz="3999">
                <a:solidFill>
                  <a:srgbClr val="000000"/>
                </a:solidFill>
                <a:latin typeface="Open Sans"/>
                <a:ea typeface="Open Sans"/>
                <a:cs typeface="Open Sans"/>
                <a:sym typeface="Open Sans"/>
              </a:rPr>
              <a:t> A classificação e análise do som do coração desempenha um papel importante no diagnóstico precoce e na prevenção de doenças cardiovasculares, mais especificamente as valvares. Quando uma válvula cardíaca natural se torna defeituosa pode resultar em estenose (estreitamento da válvula) ou regurgitação (vazamento da válvula). Antes de procurar o médico o paciente normalmente apresenta algum desconforto ou apresenta sinais como a angina (dor no peito), falta de ar e cansaço; quanto antes for feito diagnóstico, maiores as chances de tratamento. Para diagnóstico das doenças cardiovasculares os médicos.</a:t>
            </a:r>
          </a:p>
          <a:p>
            <a:pPr algn="just">
              <a:lnSpc>
                <a:spcPts val="5599"/>
              </a:lnSpc>
            </a:pPr>
          </a:p>
          <a:p>
            <a:pPr algn="just">
              <a:lnSpc>
                <a:spcPts val="5599"/>
              </a:lnSpc>
            </a:pPr>
          </a:p>
        </p:txBody>
      </p:sp>
      <p:sp>
        <p:nvSpPr>
          <p:cNvPr name="TextBox 49" id="49"/>
          <p:cNvSpPr txBox="true"/>
          <p:nvPr/>
        </p:nvSpPr>
        <p:spPr>
          <a:xfrm rot="0">
            <a:off x="16802041" y="10445558"/>
            <a:ext cx="5851464" cy="762000"/>
          </a:xfrm>
          <a:prstGeom prst="rect">
            <a:avLst/>
          </a:prstGeom>
        </p:spPr>
        <p:txBody>
          <a:bodyPr anchor="t" rtlCol="false" tIns="0" lIns="0" bIns="0" rIns="0">
            <a:spAutoFit/>
          </a:bodyPr>
          <a:lstStyle/>
          <a:p>
            <a:pPr algn="l" marL="0" indent="0" lvl="0">
              <a:lnSpc>
                <a:spcPts val="6299"/>
              </a:lnSpc>
              <a:spcBef>
                <a:spcPct val="0"/>
              </a:spcBef>
            </a:pPr>
            <a:r>
              <a:rPr lang="en-US" b="true" sz="4500">
                <a:solidFill>
                  <a:srgbClr val="000000"/>
                </a:solidFill>
                <a:latin typeface="Open Sans Bold"/>
                <a:ea typeface="Open Sans Bold"/>
                <a:cs typeface="Open Sans Bold"/>
                <a:sym typeface="Open Sans Bold"/>
              </a:rPr>
              <a:t>Resultados</a:t>
            </a:r>
          </a:p>
        </p:txBody>
      </p:sp>
      <p:sp>
        <p:nvSpPr>
          <p:cNvPr name="TextBox 50" id="50"/>
          <p:cNvSpPr txBox="true"/>
          <p:nvPr/>
        </p:nvSpPr>
        <p:spPr>
          <a:xfrm rot="0">
            <a:off x="16802041" y="32353661"/>
            <a:ext cx="5851464" cy="762000"/>
          </a:xfrm>
          <a:prstGeom prst="rect">
            <a:avLst/>
          </a:prstGeom>
        </p:spPr>
        <p:txBody>
          <a:bodyPr anchor="t" rtlCol="false" tIns="0" lIns="0" bIns="0" rIns="0">
            <a:spAutoFit/>
          </a:bodyPr>
          <a:lstStyle/>
          <a:p>
            <a:pPr algn="l" marL="0" indent="0" lvl="0">
              <a:lnSpc>
                <a:spcPts val="6299"/>
              </a:lnSpc>
              <a:spcBef>
                <a:spcPct val="0"/>
              </a:spcBef>
            </a:pPr>
            <a:r>
              <a:rPr lang="en-US" b="true" sz="4500">
                <a:solidFill>
                  <a:srgbClr val="000000"/>
                </a:solidFill>
                <a:latin typeface="Open Sans Bold"/>
                <a:ea typeface="Open Sans Bold"/>
                <a:cs typeface="Open Sans Bold"/>
                <a:sym typeface="Open Sans Bold"/>
              </a:rPr>
              <a:t>Referências</a:t>
            </a:r>
          </a:p>
        </p:txBody>
      </p:sp>
      <p:sp>
        <p:nvSpPr>
          <p:cNvPr name="TextBox 51" id="51"/>
          <p:cNvSpPr txBox="true"/>
          <p:nvPr/>
        </p:nvSpPr>
        <p:spPr>
          <a:xfrm rot="0">
            <a:off x="16432289" y="33647940"/>
            <a:ext cx="14860201" cy="7727950"/>
          </a:xfrm>
          <a:prstGeom prst="rect">
            <a:avLst/>
          </a:prstGeom>
        </p:spPr>
        <p:txBody>
          <a:bodyPr anchor="t" rtlCol="false" tIns="0" lIns="0" bIns="0" rIns="0">
            <a:spAutoFit/>
          </a:bodyPr>
          <a:lstStyle/>
          <a:p>
            <a:pPr algn="l">
              <a:lnSpc>
                <a:spcPts val="5599"/>
              </a:lnSpc>
            </a:pPr>
            <a:r>
              <a:rPr lang="en-US" sz="3999">
                <a:solidFill>
                  <a:srgbClr val="000000"/>
                </a:solidFill>
                <a:latin typeface="Open Sans"/>
                <a:ea typeface="Open Sans"/>
                <a:cs typeface="Open Sans"/>
                <a:sym typeface="Open Sans"/>
              </a:rPr>
              <a:t>AUTOR. Título da parte. In: AUTOR. Título da obra: subtítulo. Edição. Cidade de publicação: Editora, ano. número do capítulo se houver, páginas da parte consultada. </a:t>
            </a:r>
          </a:p>
          <a:p>
            <a:pPr algn="l">
              <a:lnSpc>
                <a:spcPts val="5599"/>
              </a:lnSpc>
            </a:pPr>
          </a:p>
          <a:p>
            <a:pPr algn="l">
              <a:lnSpc>
                <a:spcPts val="5599"/>
              </a:lnSpc>
            </a:pPr>
            <a:r>
              <a:rPr lang="en-US" sz="3999">
                <a:solidFill>
                  <a:srgbClr val="000000"/>
                </a:solidFill>
                <a:latin typeface="Open Sans"/>
                <a:ea typeface="Open Sans"/>
                <a:cs typeface="Open Sans"/>
                <a:sym typeface="Open Sans"/>
              </a:rPr>
              <a:t>MANFROI, V. Vinho branco. In: VENTURINI FILHO, W. G. (Coord.). Bebidas alcoólicas: ciência e tecnologia. São Paulo: Blucher, 2010. v. 1, cap. 7, p. 143-163. </a:t>
            </a:r>
          </a:p>
          <a:p>
            <a:pPr algn="l">
              <a:lnSpc>
                <a:spcPts val="5599"/>
              </a:lnSpc>
            </a:pPr>
          </a:p>
          <a:p>
            <a:pPr algn="l">
              <a:lnSpc>
                <a:spcPts val="5599"/>
              </a:lnSpc>
            </a:pPr>
            <a:r>
              <a:rPr lang="en-US" sz="3999">
                <a:solidFill>
                  <a:srgbClr val="000000"/>
                </a:solidFill>
                <a:latin typeface="Open Sans"/>
                <a:ea typeface="Open Sans"/>
                <a:cs typeface="Open Sans"/>
                <a:sym typeface="Open Sans"/>
              </a:rPr>
              <a:t>MINETTE, L. J. et al. Carregamento e descarregamento. In: MACHADO, C. C. Colheita florestal. 2. ed. atual. ampl. Viçosa, MG: Editora UFV, 2008. cap. 5, p. 146-160.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DAGHRRn-L4M</dc:identifier>
  <dcterms:modified xsi:type="dcterms:W3CDTF">2011-08-01T06:04:30Z</dcterms:modified>
  <cp:revision>1</cp:revision>
  <dc:title>Banner Workshop IA</dc:title>
</cp:coreProperties>
</file>